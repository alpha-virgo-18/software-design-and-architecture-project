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5F9E">
              <a:alpha val="25000"/>
            </a:srgbClr>
          </a:solidFill>
          <a:ln w="12700">
            <a:solidFill>
              <a:srgbClr val="1A5F9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BA8E8">
              <a:alpha val="18000"/>
            </a:srgbClr>
          </a:solidFill>
          <a:ln w="12700">
            <a:solidFill>
              <a:srgbClr val="2BA8E8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58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 &amp; Architecture — SDA Project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5943600" cy="36576"/>
          </a:xfrm>
          <a:prstGeom prst="rect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94436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Huzaifa Ali — 242277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M.Daim Rasheed — 242202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Usman — 242197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0233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BsSE – 4A   |   Submitted To: Ms. Summan Aziz   | 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82296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 Overview &amp; Introduction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Problem Statement &amp; Objectives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Scope &amp; Architectural Goals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High-Level Architecture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SOLID Principles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Technology Stack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Component Design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63440" y="82296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Design Patterns Applied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Data Design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Security &amp; Performance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Challenges &amp; Limitations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Future Enhancements</a:t>
            </a:r>
            <a:endParaRPr lang="en-US" sz="14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Conclusion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26280" y="822960"/>
            <a:ext cx="27432" cy="4114800"/>
          </a:xfrm>
          <a:prstGeom prst="rect">
            <a:avLst/>
          </a:prstGeom>
          <a:solidFill>
            <a:srgbClr val="C8DCF0"/>
          </a:solidFill>
          <a:ln w="12700">
            <a:solidFill>
              <a:srgbClr val="C8DC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804672"/>
            <a:ext cx="8321040" cy="1024128"/>
          </a:xfrm>
          <a:prstGeom prst="rect">
            <a:avLst/>
          </a:prstGeom>
          <a:solidFill>
            <a:srgbClr val="E8F4FD"/>
          </a:solidFill>
          <a:ln w="12700">
            <a:solidFill>
              <a:srgbClr val="B8D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859536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console-based e-commerce application built in C++, supporting customer purchasing, admin inventory management, and secure payments. Designed using key software design patterns to emphasize scalability, maintainability, and clear architecture.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11480" y="1920240"/>
            <a:ext cx="2834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920240"/>
            <a:ext cx="2834640" cy="38404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7510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21208" y="2359152"/>
            <a:ext cx="2615184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product inventory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payment methods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Password-protected access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154680" y="1920240"/>
            <a:ext cx="2834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54680" y="1920240"/>
            <a:ext cx="2834640" cy="38404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9751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84448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264408" y="2359152"/>
            <a:ext cx="2615184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available products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to cart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with multiple payment options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897880" y="1920240"/>
            <a:ext cx="2834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97880" y="1920240"/>
            <a:ext cx="2834640" cy="38404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9751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27648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007608" y="2359152"/>
            <a:ext cx="2615184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logging system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via Observer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777240"/>
            <a:ext cx="8321040" cy="1234440"/>
          </a:xfrm>
          <a:prstGeom prst="rect">
            <a:avLst/>
          </a:prstGeom>
          <a:solidFill>
            <a:srgbClr val="FFF8ED"/>
          </a:solidFill>
          <a:ln w="12700">
            <a:solidFill>
              <a:srgbClr val="F5D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79552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11155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e-commerce platforms often lack clear architectural principles, making them hard to maintain and extend. There is a need for a demonstrably pattern-driven, modular system that cleanly separates concerns between user interaction, business logic, and data management.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11480" y="21488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11480" y="2542032"/>
            <a:ext cx="8321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GoF Design Patterns: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Singleton, Factory, Builder, Strategy, Command, Observer, State, Template, Facade, Adapter, Composite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SOLID Principles: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SRP, OCP, LSP, ISP, DIP across all system components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Layered Architecture: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Presentation → Application → Data layers with clear separation of concerns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Real E-Commerce Flow: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 browsing, cart management, and multi-method payment checkout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Extensibility: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 payment methods and shipping strategies without altering existing code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Architectural Goals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Quality Attributes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26187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0817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316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1609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classes with focused responsibilities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1480" y="213969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2487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payment/shipping methods without core changes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11480" y="30175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6382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0723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05840" y="3364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 patterns promote reuse across components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11480" y="389534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4164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05840" y="42428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 keeps focus on core architecture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754880" y="1234440"/>
            <a:ext cx="4114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C++ for performance &amp; control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UI — focuses on core functionality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 management (no DB/file persistence)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arrays: MAX_PRODUCTS &amp; MAX_CART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Single-threaded, local machine execution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 — standard C++ compiler only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4617720" y="804672"/>
            <a:ext cx="27432" cy="4206240"/>
          </a:xfrm>
          <a:prstGeom prst="rect">
            <a:avLst/>
          </a:prstGeom>
          <a:solidFill>
            <a:srgbClr val="C8DCF0"/>
          </a:solidFill>
          <a:ln w="12700">
            <a:solidFill>
              <a:srgbClr val="C8DC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7772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— 3-Tier Model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261872"/>
            <a:ext cx="1188720" cy="1188720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1732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2487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920240" y="1261872"/>
            <a:ext cx="1188720" cy="1188720"/>
          </a:xfrm>
          <a:prstGeom prst="ellipse">
            <a:avLst/>
          </a:prstGeom>
          <a:solidFill>
            <a:srgbClr val="0EA171"/>
          </a:solidFill>
          <a:ln w="12700">
            <a:solidFill>
              <a:srgbClr val="0EA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1417320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0240" y="24871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200400" y="1828800"/>
            <a:ext cx="640080" cy="0"/>
          </a:xfrm>
          <a:prstGeom prst="line">
            <a:avLst/>
          </a:prstGeom>
          <a:noFill/>
          <a:ln w="25400">
            <a:solidFill>
              <a:srgbClr val="8898A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931920" y="1115568"/>
            <a:ext cx="4846320" cy="932688"/>
          </a:xfrm>
          <a:prstGeom prst="rect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069080" y="11704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069080" y="15179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menus for Admin &amp; User interaction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55080" y="2048256"/>
            <a:ext cx="0" cy="237744"/>
          </a:xfrm>
          <a:prstGeom prst="line">
            <a:avLst/>
          </a:prstGeom>
          <a:noFill/>
          <a:ln w="25400">
            <a:solidFill>
              <a:srgbClr val="8898A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931920" y="2286000"/>
            <a:ext cx="4846320" cy="93268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069080" y="2340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069080" y="26883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Cart, Checkout, Commands, Patterns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55080" y="3218688"/>
            <a:ext cx="0" cy="237744"/>
          </a:xfrm>
          <a:prstGeom prst="line">
            <a:avLst/>
          </a:prstGeom>
          <a:noFill/>
          <a:ln w="25400">
            <a:solidFill>
              <a:srgbClr val="8898A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931920" y="3456432"/>
            <a:ext cx="4846320" cy="9326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069080" y="3511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069080" y="3858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arrays: Inventory, Cart, Order objects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Applied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8046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" y="914400"/>
            <a:ext cx="594360" cy="594360"/>
          </a:xfrm>
          <a:prstGeom prst="ellipse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70432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1609344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→ logging only; CartItem → cart data only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8046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01568" y="914400"/>
            <a:ext cx="594360" cy="594360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01568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096512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383280" y="1609344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payment methods added via subclassing, no existing code change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8046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27648" y="914400"/>
            <a:ext cx="594360" cy="594360"/>
          </a:xfrm>
          <a:prstGeom prst="ellipse">
            <a:avLst/>
          </a:prstGeom>
          <a:solidFill>
            <a:srgbClr val="0EA171"/>
          </a:solidFill>
          <a:ln w="12700">
            <a:solidFill>
              <a:srgbClr val="0EA17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27648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022592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09360" y="1609344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CreditCard, PayPal &amp; ExternalAdapter used interchangeably as PaymentMethod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645920" y="28620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755648" y="2971800"/>
            <a:ext cx="594360" cy="5943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55648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2450592" y="30083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737360" y="3666744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handles notifications; Command handles cart actions — separate concerns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0" y="2862072"/>
            <a:ext cx="2743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81728" y="297180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1728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376672" y="30083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663440" y="3666744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CheckoutFacade depends on PaymentMethod abstraction, not concrete classes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804672"/>
            <a:ext cx="4251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804672"/>
            <a:ext cx="425196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595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5528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75488" y="1243584"/>
            <a:ext cx="4032504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— high performance, low-level memory control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paradigm for patterns &amp; inheritance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dynamic inventory &amp; checkout flows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73168" y="804672"/>
            <a:ext cx="4251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73168" y="804672"/>
            <a:ext cx="4251960" cy="38404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85953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2936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Libraries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82896" y="1243584"/>
            <a:ext cx="4032504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iostream — console I/O interface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— product names &amp; user input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— arrays &amp; data structures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65760" y="2907792"/>
            <a:ext cx="4251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65760" y="2907792"/>
            <a:ext cx="4251960" cy="384048"/>
          </a:xfrm>
          <a:prstGeom prst="rect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6265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5528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5488" y="3346704"/>
            <a:ext cx="4032504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— lightweight editor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Code::Blocks — compiler &amp; debugger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C++ compiler (GCC/MSVC)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773168" y="2907792"/>
            <a:ext cx="425196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73168" y="2907792"/>
            <a:ext cx="42519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96265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02936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882896" y="3346704"/>
            <a:ext cx="4032504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arrays (MAX_PRODUCTS, MAX_CART)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object storage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DB or file persistence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Design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" y="804672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804672"/>
            <a:ext cx="2816352" cy="731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926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95097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517904"/>
            <a:ext cx="259689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— centralized logging for all system events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19272" y="804672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19272" y="804672"/>
            <a:ext cx="2816352" cy="7315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96926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59352" y="95097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CartItem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29000" y="1517904"/>
            <a:ext cx="259689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classes: inventory details &amp; cart tracking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91072" y="804672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91072" y="804672"/>
            <a:ext cx="2816352" cy="73152"/>
          </a:xfrm>
          <a:prstGeom prst="rect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96926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31152" y="95097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AddToCartCommand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0" y="1517904"/>
            <a:ext cx="259689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pattern — encapsulates add-to-cart actions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47472" y="2889504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47472" y="2889504"/>
            <a:ext cx="2816352" cy="73152"/>
          </a:xfrm>
          <a:prstGeom prst="rect">
            <a:avLst/>
          </a:prstGeom>
          <a:solidFill>
            <a:srgbClr val="0EA171"/>
          </a:solidFill>
          <a:ln w="12700">
            <a:solidFill>
              <a:srgbClr val="0EA171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54096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87552" y="30358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57200" y="3602736"/>
            <a:ext cx="259689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hierarchy: CreditCard, PayPal, ExternalAdapter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3319272" y="2889504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319272" y="2889504"/>
            <a:ext cx="28163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054096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59352" y="30358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Builder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3429000" y="3602736"/>
            <a:ext cx="259689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constructs Order objects step-by-step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291072" y="2889504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291072" y="2889504"/>
            <a:ext cx="281635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054096"/>
            <a:ext cx="438912" cy="4389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31152" y="30358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/ State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6400800" y="3602736"/>
            <a:ext cx="259689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EmailNotifier + OrderState drive notifications &amp; lifecycle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— Creational &amp; Structural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10 GoF Patterns — Creational (3) + Structural (2) + Behavioral excerpt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" y="1115568"/>
            <a:ext cx="281635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115568"/>
            <a:ext cx="2816352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11521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267712" y="11704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157276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— single instance for centralized logging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9272" y="1115568"/>
            <a:ext cx="281635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9272" y="1115568"/>
            <a:ext cx="2816352" cy="38404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0712" y="11521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239512" y="11704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429000" y="157276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PaymentFactory — creates CreditCard / PayPal on demand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91072" y="1115568"/>
            <a:ext cx="281635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91072" y="1115568"/>
            <a:ext cx="2816352" cy="384048"/>
          </a:xfrm>
          <a:prstGeom prst="rect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11521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211312" y="11704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00800" y="1572768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OrderBuilder — constructs Order objects step-by-step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47472" y="3054096"/>
            <a:ext cx="281635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" y="3054096"/>
            <a:ext cx="28163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" y="3090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2267712" y="31089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3511296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CheckoutFacade — single interface over payment + logging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3319272" y="3054096"/>
            <a:ext cx="281635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319272" y="3054096"/>
            <a:ext cx="281635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10712" y="3090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239512" y="31089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429000" y="3511296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ExternalAdapter — integrates 3rd-party payment gateways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91072" y="3054096"/>
            <a:ext cx="281635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91072" y="3054096"/>
            <a:ext cx="2816352" cy="384048"/>
          </a:xfrm>
          <a:prstGeom prst="rect">
            <a:avLst/>
          </a:prstGeom>
          <a:solidFill>
            <a:srgbClr val="0EA171"/>
          </a:solidFill>
          <a:ln w="12700">
            <a:solidFill>
              <a:srgbClr val="0EA17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82512" y="3090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8211312" y="31089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400800" y="3511296"/>
            <a:ext cx="25968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— tree structure for hierarchical product catalog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— Behavioral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" y="80467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804672"/>
            <a:ext cx="91440" cy="74980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8912" y="804672"/>
            <a:ext cx="1920240" cy="749808"/>
          </a:xfrm>
          <a:prstGeom prst="rect">
            <a:avLst/>
          </a:prstGeom>
          <a:solidFill>
            <a:srgbClr val="1A5F9E">
              <a:alpha val="12000"/>
            </a:srgbClr>
          </a:solidFill>
          <a:ln w="12700">
            <a:solidFill>
              <a:srgbClr val="1A5F9E">
                <a:alpha val="1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93268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50592" y="932688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ShippingStrategy — Standard vs. Express shipping selectable at runtime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7472" y="1645920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" y="1645920"/>
            <a:ext cx="91440" cy="749808"/>
          </a:xfrm>
          <a:prstGeom prst="rect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912" y="1645920"/>
            <a:ext cx="1920240" cy="749808"/>
          </a:xfrm>
          <a:prstGeom prst="rect">
            <a:avLst/>
          </a:prstGeom>
          <a:solidFill>
            <a:srgbClr val="2BA8E8">
              <a:alpha val="12000"/>
            </a:srgbClr>
          </a:solidFill>
          <a:ln w="12700">
            <a:solidFill>
              <a:srgbClr val="2BA8E8">
                <a:alpha val="1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17739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450592" y="1773936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AddToCartCommand — encapsulates cart action, enables undo future extension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7472" y="2487168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7472" y="2487168"/>
            <a:ext cx="91440" cy="749808"/>
          </a:xfrm>
          <a:prstGeom prst="rect">
            <a:avLst/>
          </a:prstGeom>
          <a:solidFill>
            <a:srgbClr val="0EA171"/>
          </a:solidFill>
          <a:ln w="12700">
            <a:solidFill>
              <a:srgbClr val="0EA17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8912" y="2487168"/>
            <a:ext cx="1920240" cy="749808"/>
          </a:xfrm>
          <a:prstGeom prst="rect">
            <a:avLst/>
          </a:prstGeom>
          <a:solidFill>
            <a:srgbClr val="0EA171">
              <a:alpha val="12000"/>
            </a:srgbClr>
          </a:solidFill>
          <a:ln w="12700">
            <a:solidFill>
              <a:srgbClr val="0EA171">
                <a:alpha val="1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261518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450592" y="2615184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EmailNotifier — auto-triggered on order state changes (paid, shipped)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7472" y="3328416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7472" y="3328416"/>
            <a:ext cx="91440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8912" y="3328416"/>
            <a:ext cx="1920240" cy="749808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" y="34564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450592" y="3456432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OrderState / PaidState — order lifecycle managed without altering core logic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47472" y="4169664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47472" y="4169664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8912" y="4169664"/>
            <a:ext cx="1920240" cy="749808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" y="42976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450592" y="4297680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CheckoutTemplate — defines standard flow; subclasses customize discounts &amp; payment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 &amp; Security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77724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170432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Inventory — Fixed-size array (MAX_PRODUCTS)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Items — Global array (MAX_CART)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 — Temporary objects via OrderBuilder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resides in-memory — no file/DB persistence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ERD: Product ← CartItem → Order (in-memory relation)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09160" y="77724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Considerations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09160" y="1170432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 is password-protected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modify system inventory or orders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role separation: Admin vs. User scopes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09160" y="265176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09160" y="301752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arrays ensure fast, predictable data access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logging overhead via Singleton Logger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 memory bloat beyond polymorphic allocations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0" y="777240"/>
            <a:ext cx="27432" cy="4206240"/>
          </a:xfrm>
          <a:prstGeom prst="rect">
            <a:avLst/>
          </a:prstGeom>
          <a:solidFill>
            <a:srgbClr val="C8DCF0"/>
          </a:solidFill>
          <a:ln w="12700">
            <a:solidFill>
              <a:srgbClr val="C8DC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804672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804672"/>
            <a:ext cx="73152" cy="19019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896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Storage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316736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lost on exit. In-memory arrays cannot scale to real-world product catalogs or order histories.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73168" y="804672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3168" y="804672"/>
            <a:ext cx="73152" cy="190195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56048" y="896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Console-Only UI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56048" y="1316736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interface is functional but limits user engagement and accessibility compared to modern web or mobile UIs.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5760" y="2862072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62072"/>
            <a:ext cx="73152" cy="19019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953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 Limits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374136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MAX_PRODUCTS and MAX_CART impose hard capacity caps, restricting dynamic expansion of inventory or cart.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773168" y="2862072"/>
            <a:ext cx="42519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73168" y="2862072"/>
            <a:ext cx="73152" cy="19019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56048" y="2953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Features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56048" y="3374136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dynamic filtering, live search, or real-time inventory updates needed by production e-commerce systems.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640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595360" y="4709160"/>
            <a:ext cx="347472" cy="347472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" y="80467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896112"/>
            <a:ext cx="566928" cy="566928"/>
          </a:xfrm>
          <a:prstGeom prst="ellipse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896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877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24128" y="117043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SQLite / PostgreSQL for persistent, scalable storage of products, orders &amp; users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47472" y="162763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" y="1719072"/>
            <a:ext cx="566928" cy="566928"/>
          </a:xfrm>
          <a:prstGeom prst="ellipse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24128" y="1700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Frontend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24128" y="199339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React or Vue.js web UI or mobile app for richer user experience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7472" y="245059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7472" y="2542032"/>
            <a:ext cx="566928" cy="566928"/>
          </a:xfrm>
          <a:prstGeom prst="ellipse">
            <a:avLst/>
          </a:prstGeom>
          <a:solidFill>
            <a:srgbClr val="0EA171"/>
          </a:solidFill>
          <a:ln w="12700">
            <a:solidFill>
              <a:srgbClr val="0EA17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24128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024128" y="281635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search, dynamic filtering, and user profile management for larger catalogs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47472" y="327355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7472" y="3364992"/>
            <a:ext cx="566928" cy="5669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24128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Enhancements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024128" y="363931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encryption, Two-Factor Authentication (2FA), and OAuth-based secure access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47472" y="409651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47472" y="4187952"/>
            <a:ext cx="566928" cy="5669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747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24128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Extensions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024128" y="446227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Observer &amp; Strategy for analytics dashboards and advanced shipping options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A5F9E">
              <a:alpha val="25000"/>
            </a:srgbClr>
          </a:solidFill>
          <a:ln w="12700">
            <a:solidFill>
              <a:srgbClr val="1A5F9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0" cy="5143500"/>
          </a:xfrm>
          <a:prstGeom prst="rect">
            <a:avLst/>
          </a:prstGeom>
          <a:solidFill>
            <a:srgbClr val="2BA8E8">
              <a:alpha val="18000"/>
            </a:srgbClr>
          </a:solidFill>
          <a:ln w="12700">
            <a:solidFill>
              <a:srgbClr val="2BA8E8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200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969264"/>
            <a:ext cx="5943600" cy="36576"/>
          </a:xfrm>
          <a:prstGeom prst="rect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078992"/>
            <a:ext cx="6126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2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10 GoF design patterns in a real, working C++ system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2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principles applied across all layers and components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2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3-tier layered architecture: Presentation → Application → Data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2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design allows new features without modifying existing code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2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academic foundation ready for database &amp; UI evolution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743200" y="44805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extensible e-commerce platform built on industry-standard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5F9E">
              <a:alpha val="22000"/>
            </a:srgbClr>
          </a:solidFill>
          <a:ln w="12700">
            <a:solidFill>
              <a:srgbClr val="1A5F9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BA8E8">
              <a:alpha val="18000"/>
            </a:srgbClr>
          </a:solidFill>
          <a:ln w="12700">
            <a:solidFill>
              <a:srgbClr val="2BA8E8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47472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4708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670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B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2BA8E8"/>
          </a:solidFill>
          <a:ln w="12700">
            <a:solidFill>
              <a:srgbClr val="2BA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3101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Huzaifa Ali · M.Daim Rasheed · M. Usman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 – 4A | Ms. Summan Aziz | May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Shopping System – SDA Project</dc:title>
  <dc:subject>PptxGenJS Presentation</dc:subject>
  <dc:creator>Huzaifa Ali, M.Daim Rasheed, M. Usman</dc:creator>
  <cp:lastModifiedBy>Huzaifa Ali, M.Daim Rasheed, M. Usman</cp:lastModifiedBy>
  <cp:revision>1</cp:revision>
  <dcterms:created xsi:type="dcterms:W3CDTF">2026-05-30T16:36:03Z</dcterms:created>
  <dcterms:modified xsi:type="dcterms:W3CDTF">2026-05-30T16:36:03Z</dcterms:modified>
</cp:coreProperties>
</file>